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03470c1-c34e-0a73-e1d5-10c0de58ea2b}">
          <p14:sldIdLst>
            <p14:sldId id="256"/>
          </p14:sldIdLst>
        </p14:section>
        <p14:section name="Build" id="{9d811f8f-7b05-4033-3d06-0c2ec52c504a}">
          <p14:sldIdLst>
            <p14:sldId id="257"/>
            <p14:sldId id="258"/>
            <p14:sldId id="259"/>
            <p14:sldId id="260"/>
          </p14:sldIdLst>
        </p14:section>
        <p14:section name="Evidence" id="{600b2e06-df9c-40ff-2066-30e81bcb0877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2201C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22201C"/>
                </a:solidFill>
                <a:latin typeface="+mn-lt"/>
              </a:rPr>
              <a:t>Time to first token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Streaming Live RAG</c:v>
                </c:pt>
              </c:strCache>
            </c:strRef>
          </c:tx>
          <c:spPr>
            <a:solidFill>
              <a:srgbClr val="2F6B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P50</c:v>
                  </c:pt>
                  <c:pt idx="1">
                    <c:v>P95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310</c:v>
                </c:pt>
                <c:pt idx="1">
                  <c:v>460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Naive sequential</c:v>
                </c:pt>
              </c:strCache>
            </c:strRef>
          </c:tx>
          <c:spPr>
            <a:solidFill>
              <a:srgbClr val="C9BF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0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P50</c:v>
                  </c:pt>
                  <c:pt idx="1">
                    <c:v>P95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2450</c:v>
                </c:pt>
                <c:pt idx="1">
                  <c:v>3280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20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5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9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55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655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502D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502D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22201C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9525">
            <a:solidFill>
              <a:srgbClr val="D9D1C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4818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55B"/>
                </a:solidFill>
              </a:rPr>
              <a:t>VIT_RAGnarok  ·  Streaming Live RAG  ·  Theme 04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5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5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502D"/>
                </a:solidFill>
              </a:rPr>
              <a:t>THEME 04  ·  SAMSUNG PRISM GENAI HACKATHON 2026–27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201C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Streaming Live RAG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 rot="-60000">
            <a:off x="566928" y="1627632"/>
            <a:ext cx="3291840" cy="0"/>
          </a:xfrm>
          <a:prstGeom prst="line">
            <a:avLst/>
          </a:prstGeom>
          <a:noFill/>
          <a:ln w="38100">
            <a:solidFill>
              <a:srgbClr val="C850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55B"/>
                </a:solidFill>
              </a:rPr>
              <a:t>Start retrieving while the user is still talking — and keep every answer tied to the corpus.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217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Team member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What they built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Yash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Architecture, two-stage controller, async pipeline, packaging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Yuvraj Bansal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Hybrid Qdrant search, GPU embeddings, reranker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Aditya Gupta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Live VS Arena, voice streaming, waveform UI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Jaanya Bagdi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Grounding validator, session memory, gates G1–G6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55B"/>
                </a:solidFill>
              </a:rPr>
              <a:t>Vellore Institute of Technology  ·  Team VIT_RAGnarok  ·  Release tag PRISM_GENAI_HACKATHON_Y2026  ·  github.com/codewithyuvi/StreamingLive-RagDemo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502D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01C"/>
                </a:solidFill>
              </a:rPr>
              <a:t>People speak requests, not queries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4023360" cy="1188720"/>
          </a:xfrm>
          <a:prstGeom prst="rect">
            <a:avLst/>
          </a:prstGeom>
          <a:solidFill>
            <a:srgbClr val="FFFDF8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64008" cy="1188720"/>
          </a:xfrm>
          <a:prstGeom prst="rect">
            <a:avLst/>
          </a:prstGeom>
          <a:solidFill>
            <a:srgbClr val="C8502D"/>
          </a:solidFill>
          <a:ln w="12700">
            <a:solidFill>
              <a:srgbClr val="C850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13716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</a:rPr>
              <a:t>One sentence, several questions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655B"/>
                </a:solidFill>
              </a:rPr>
              <a:t>“Pune hall capacity for 30, and the cancellation terms, and catering?” A single embedding blurs these together and the later asks get lost.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1280160"/>
            <a:ext cx="4023360" cy="1188720"/>
          </a:xfrm>
          <a:prstGeom prst="rect">
            <a:avLst/>
          </a:prstGeom>
          <a:solidFill>
            <a:srgbClr val="FFFDF8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1280160"/>
            <a:ext cx="64008" cy="1188720"/>
          </a:xfrm>
          <a:prstGeom prst="rect">
            <a:avLst/>
          </a:prstGeom>
          <a:solidFill>
            <a:srgbClr val="2F6B63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18888" y="13716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</a:rPr>
              <a:t>Dead air after every turn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655B"/>
                </a:solidFill>
              </a:rPr>
              <a:t>Classic RAG waits for silence, then searches, then generates. Our naive baseline leaves about 2.5 s before the first token.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4023360" cy="1188720"/>
          </a:xfrm>
          <a:prstGeom prst="rect">
            <a:avLst/>
          </a:prstGeom>
          <a:solidFill>
            <a:srgbClr val="FFFDF8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651760"/>
            <a:ext cx="64008" cy="1188720"/>
          </a:xfrm>
          <a:prstGeom prst="rect">
            <a:avLst/>
          </a:prstGeom>
          <a:solidFill>
            <a:srgbClr val="C8502D"/>
          </a:solidFill>
          <a:ln w="12700">
            <a:solidFill>
              <a:srgbClr val="C850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27432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</a:rPr>
              <a:t>Late details force a restart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655B"/>
                </a:solidFill>
              </a:rPr>
              <a:t>“What if we cancel 5 days before?” should sharpen the last answer, not throw away the session and search again.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2651760"/>
            <a:ext cx="4023360" cy="1188720"/>
          </a:xfrm>
          <a:prstGeom prst="rect">
            <a:avLst/>
          </a:prstGeom>
          <a:solidFill>
            <a:srgbClr val="FFFDF8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2651760"/>
            <a:ext cx="64008" cy="1188720"/>
          </a:xfrm>
          <a:prstGeom prst="rect">
            <a:avLst/>
          </a:prstGeom>
          <a:solidFill>
            <a:srgbClr val="2F6B63"/>
          </a:solidFill>
          <a:ln w="12700">
            <a:solidFill>
              <a:srgbClr val="2F6B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18888" y="27432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</a:rPr>
              <a:t>Fast models invent sources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655B"/>
                </a:solidFill>
              </a:rPr>
              <a:t>Quick generation can cite a [Doc_99] that never existed. Without a check, an enterprise answer can’t be trusted.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solidFill>
            <a:srgbClr val="F6E3B0"/>
          </a:solidFill>
          <a:ln w="12700">
            <a:solidFill>
              <a:srgbClr val="F6E3B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</a:rPr>
              <a:t>Naive: 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speech ends → ~2.5 s of silence → first token.     </a:t>
            </a:r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</a:rPr>
              <a:t>Ours: 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</a:rPr>
              <a:t>search already done when speech ends → first token in ~310 ms.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5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502D"/>
                </a:solidFill>
              </a:rPr>
              <a:t>SOLUTION &amp; ARCHITECTURE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01C"/>
                </a:solidFill>
              </a:rPr>
              <a:t>Retrieve while speaking, answer at once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34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02D"/>
                </a:solidFill>
              </a:rPr>
              <a:t>WHILE THE USER SPEAKS  (t₁)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2286000" cy="777240"/>
          </a:xfrm>
          <a:prstGeom prst="rect">
            <a:avLst/>
          </a:prstGeom>
          <a:solidFill>
            <a:srgbClr val="FFFDF8"/>
          </a:solidFill>
          <a:ln w="9525">
            <a:solidFill>
              <a:srgbClr val="C850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63624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02D"/>
                </a:solidFill>
              </a:rPr>
              <a:t>Controller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655B"/>
                </a:solidFill>
              </a:rPr>
              <a:t>Groq · wait / retrieve / skip, ~240 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508760"/>
            <a:ext cx="2286000" cy="777240"/>
          </a:xfrm>
          <a:prstGeom prst="rect">
            <a:avLst/>
          </a:prstGeom>
          <a:solidFill>
            <a:srgbClr val="FFFDF8"/>
          </a:solidFill>
          <a:ln w="9525">
            <a:solidFill>
              <a:srgbClr val="C850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563624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02D"/>
                </a:solidFill>
              </a:rPr>
              <a:t>Decomposer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655B"/>
                </a:solidFill>
              </a:rPr>
              <a:t>1–4 sub-queries, run in parallel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1508760"/>
            <a:ext cx="2286000" cy="777240"/>
          </a:xfrm>
          <a:prstGeom prst="rect">
            <a:avLst/>
          </a:prstGeom>
          <a:solidFill>
            <a:srgbClr val="FFFDF8"/>
          </a:solidFill>
          <a:ln w="9525">
            <a:solidFill>
              <a:srgbClr val="C850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563624"/>
            <a:ext cx="2103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502D"/>
                </a:solidFill>
              </a:rPr>
              <a:t>Hybrid search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655B"/>
                </a:solidFill>
              </a:rPr>
              <a:t>Dense + BM25, fused with RRF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1897380"/>
            <a:ext cx="640080" cy="0"/>
          </a:xfrm>
          <a:prstGeom prst="line">
            <a:avLst/>
          </a:prstGeom>
          <a:noFill/>
          <a:ln w="15875">
            <a:solidFill>
              <a:srgbClr val="6B655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715000" y="1897380"/>
            <a:ext cx="640080" cy="0"/>
          </a:xfrm>
          <a:prstGeom prst="line">
            <a:avLst/>
          </a:prstGeom>
          <a:noFill/>
          <a:ln w="15875">
            <a:solidFill>
              <a:srgbClr val="6B655B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02920" y="2514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63"/>
                </a:solidFill>
              </a:rPr>
              <a:t>WHEN SPEECH ENDS  (t_end)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788920"/>
            <a:ext cx="1783080" cy="777240"/>
          </a:xfrm>
          <a:prstGeom prst="rect">
            <a:avLst/>
          </a:prstGeom>
          <a:solidFill>
            <a:srgbClr val="FFFDF8"/>
          </a:solidFill>
          <a:ln w="9525">
            <a:solidFill>
              <a:srgbClr val="2F6B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843784"/>
            <a:ext cx="1600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63"/>
                </a:solidFill>
              </a:rPr>
              <a:t>Merge + rerank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655B"/>
                </a:solidFill>
              </a:rPr>
              <a:t>min 2 per sub-query, cap 8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3177540"/>
            <a:ext cx="338328" cy="0"/>
          </a:xfrm>
          <a:prstGeom prst="line">
            <a:avLst/>
          </a:prstGeom>
          <a:noFill/>
          <a:ln w="15875">
            <a:solidFill>
              <a:srgbClr val="6B655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24328" y="2788920"/>
            <a:ext cx="1783080" cy="777240"/>
          </a:xfrm>
          <a:prstGeom prst="rect">
            <a:avLst/>
          </a:prstGeom>
          <a:solidFill>
            <a:srgbClr val="FFFDF8"/>
          </a:solidFill>
          <a:ln w="9525">
            <a:solidFill>
              <a:srgbClr val="2F6B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15768" y="2843784"/>
            <a:ext cx="1600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63"/>
                </a:solidFill>
              </a:rPr>
              <a:t>Synthesizer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655B"/>
                </a:solidFill>
              </a:rPr>
              <a:t>Gemini 2.5 Flash, streamed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07408" y="3177540"/>
            <a:ext cx="338328" cy="0"/>
          </a:xfrm>
          <a:prstGeom prst="line">
            <a:avLst/>
          </a:prstGeom>
          <a:noFill/>
          <a:ln w="15875">
            <a:solidFill>
              <a:srgbClr val="6B655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745736" y="2788920"/>
            <a:ext cx="1783080" cy="777240"/>
          </a:xfrm>
          <a:prstGeom prst="rect">
            <a:avLst/>
          </a:prstGeom>
          <a:solidFill>
            <a:srgbClr val="FFFDF8"/>
          </a:solidFill>
          <a:ln w="9525">
            <a:solidFill>
              <a:srgbClr val="2F6B6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37176" y="2843784"/>
            <a:ext cx="1600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63"/>
                </a:solidFill>
              </a:rPr>
              <a:t>Grounding check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655B"/>
                </a:solidFill>
              </a:rPr>
              <a:t>regex vs. retrieved IDs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28816" y="3177540"/>
            <a:ext cx="338328" cy="0"/>
          </a:xfrm>
          <a:prstGeom prst="line">
            <a:avLst/>
          </a:prstGeom>
          <a:noFill/>
          <a:ln w="15875">
            <a:solidFill>
              <a:srgbClr val="6B655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67144" y="2788920"/>
            <a:ext cx="1783080" cy="777240"/>
          </a:xfrm>
          <a:prstGeom prst="rect">
            <a:avLst/>
          </a:prstGeom>
          <a:solidFill>
            <a:srgbClr val="FFFDF8"/>
          </a:solidFill>
          <a:ln w="9525">
            <a:solidFill>
              <a:srgbClr val="2F6B6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58584" y="2843784"/>
            <a:ext cx="1600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63"/>
                </a:solidFill>
              </a:rPr>
              <a:t>Session commit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6B655B"/>
                </a:solidFill>
              </a:rPr>
              <a:t>citations unioned, v1 → v2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840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Chit-chat  </a:t>
            </a:r>
            <a:pPr indent="0" marL="0">
              <a:buNone/>
            </a:pPr>
            <a:r>
              <a:rPr lang="en-US" sz="1050" dirty="0">
                <a:solidFill>
                  <a:srgbClr val="6B655B"/>
                </a:solidFill>
              </a:rPr>
              <a:t>Answered directly, zero searches.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3840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“Make that 2 bullets”  </a:t>
            </a:r>
            <a:pPr indent="0" marL="0">
              <a:buNone/>
            </a:pPr>
            <a:r>
              <a:rPr lang="en-US" sz="1050" dirty="0">
                <a:solidFill>
                  <a:srgbClr val="6B655B"/>
                </a:solidFill>
              </a:rPr>
              <a:t>Skips retrieval, reformats the last answer.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989320" y="3840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Unsupported claim  </a:t>
            </a:r>
            <a:pPr indent="0" marL="0">
              <a:buNone/>
            </a:pPr>
            <a:r>
              <a:rPr lang="en-US" sz="1050" dirty="0">
                <a:solidFill>
                  <a:srgbClr val="6B655B"/>
                </a:solidFill>
              </a:rPr>
              <a:t>One retry, then it says it can’t verify.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3639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55B"/>
                </a:solidFill>
              </a:rPr>
              <a:t>Shortcuts that save time and tokens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5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502D"/>
                </a:solidFill>
              </a:rPr>
              <a:t>TOOLS &amp; TECH STACK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01C"/>
                </a:solidFill>
              </a:rPr>
              <a:t>A lean stack, no agent framework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5212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Layer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Choice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Transport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FastAPI + asyncio, WebSockets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Controller LLM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Groq · LLaMA 3.3 70B Versatile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Synthesizer LLM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Google Gemini 2.5 Flash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Vector store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Qdrant hybrid, embedded fallback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Dense embeddings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bge-small-en-v1.5, FastEmbed ONNX (CUDA)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Sparse search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Qdrant BM25 + RRF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Reranker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ms-marco-MiniLM-L-6-v2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Grounding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Regex validator, no LLM calls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280160"/>
            <a:ext cx="2697480" cy="2715768"/>
          </a:xfrm>
          <a:prstGeom prst="rect">
            <a:avLst/>
          </a:prstGeom>
          <a:solidFill>
            <a:srgbClr val="FFFDF8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080760" y="137160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000000"/>
                </a:solidFill>
              </a:rPr>
              <a:t>Why no LangChain / LangGraph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C8502D"/>
                </a:solidFill>
              </a:rPr>
              <a:t>ADR-1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Nothing in them handles retrieving on a half-spoken sentence.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Generic graph layers add tens of ms we can’t spend.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Plain asyncio lets us cancel and prune speculative branches.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206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55B"/>
                </a:solidFill>
              </a:rPr>
              <a:t>Dev tools we used (Antigravity/Gemini, Copilot, ChatGPT, Claude) are listed in our AI Disclosure. Everything above is what runs at inference time.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5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502D"/>
                </a:solidFill>
              </a:rPr>
              <a:t>INNOVATION HIGHLIGHTS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01C"/>
                </a:solidFill>
              </a:rPr>
              <a:t>What we did differently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80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502D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28016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Speculative retrieval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655B"/>
                </a:solidFill>
              </a:rPr>
              <a:t>Search fires on a stable prefix mid-sentence; a stop-word guard stops it jumping on half-words.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1892808"/>
            <a:ext cx="7589520" cy="0"/>
          </a:xfrm>
          <a:prstGeom prst="line">
            <a:avLst/>
          </a:prstGeom>
          <a:noFill/>
          <a:ln w="6350">
            <a:solidFill>
              <a:srgbClr val="D9D1C2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502920" y="1965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F6B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96596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Two-stage controller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655B"/>
                </a:solidFill>
              </a:rPr>
              <a:t>A fast LLM decides when to fire. Heuristics alone false-triggered on 21–29% of chit-chat; ours: 0%.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2578608"/>
            <a:ext cx="7589520" cy="0"/>
          </a:xfrm>
          <a:prstGeom prst="line">
            <a:avLst/>
          </a:prstGeom>
          <a:noFill/>
          <a:ln w="6350">
            <a:solidFill>
              <a:srgbClr val="D9D1C2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02920" y="26517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502D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65176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Refine, don’t restart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655B"/>
                </a:solidFill>
              </a:rPr>
              <a:t>NEW_TOPIC, LATE_DETAIL or PRESENTATION_ONLY. Late details add delta citations and bump the version.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3264408"/>
            <a:ext cx="7589520" cy="0"/>
          </a:xfrm>
          <a:prstGeom prst="line">
            <a:avLst/>
          </a:prstGeom>
          <a:noFill/>
          <a:ln w="6350">
            <a:solidFill>
              <a:srgbClr val="D9D1C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502920" y="3337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F6B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33756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Grounding without an LLM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655B"/>
                </a:solidFill>
              </a:rPr>
              <a:t>A short regex check matches every [Doc §Section] to retrieved chunk IDs. Fabricated IDs never get through.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3950208"/>
            <a:ext cx="7589520" cy="0"/>
          </a:xfrm>
          <a:prstGeom prst="line">
            <a:avLst/>
          </a:prstGeom>
          <a:noFill/>
          <a:ln w="6350">
            <a:solidFill>
              <a:srgbClr val="D9D1C2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502920" y="4023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502D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02336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</a:rPr>
              <a:t>Honest thoughts + live arena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655B"/>
                </a:solidFill>
              </a:rPr>
              <a:t>The 4-step thought stream shows real timestamps, no artificial delays. The VS Arena runs both pipelines side by side.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5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502D"/>
                </a:solidFill>
              </a:rPr>
              <a:t>RESULTS &amp; BENCHMARKS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01C"/>
                </a:solidFill>
              </a:rPr>
              <a:t>Measured, not claimed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887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502D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7.9×</a:t>
            </a:r>
            <a:endParaRPr lang="en-US" sz="2400" dirty="0"/>
          </a:p>
          <a:p>
            <a:pPr indent="0" marL="0">
              <a:buNone/>
            </a:pPr>
            <a:r>
              <a:rPr lang="en-US" sz="950" dirty="0">
                <a:solidFill>
                  <a:srgbClr val="6B655B"/>
                </a:solidFill>
              </a:rPr>
              <a:t>faster P50 first token (310 vs 2,450 ms)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1887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F6B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9.8 ms</a:t>
            </a:r>
            <a:endParaRPr lang="en-US" sz="2400" dirty="0"/>
          </a:p>
          <a:p>
            <a:pPr indent="0" marL="0">
              <a:buNone/>
            </a:pPr>
            <a:r>
              <a:rPr lang="en-US" sz="950" dirty="0">
                <a:solidFill>
                  <a:srgbClr val="6B655B"/>
                </a:solidFill>
              </a:rPr>
              <a:t>hybrid retrieval on GPU (166.7 ms on CPU)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617720" y="11887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502D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$0.0004</a:t>
            </a:r>
            <a:endParaRPr lang="en-US" sz="2400" dirty="0"/>
          </a:p>
          <a:p>
            <a:pPr indent="0" marL="0">
              <a:buNone/>
            </a:pPr>
            <a:r>
              <a:rPr lang="en-US" sz="950" dirty="0">
                <a:solidFill>
                  <a:srgbClr val="6B655B"/>
                </a:solidFill>
              </a:rPr>
              <a:t>median cost per turn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1887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F6B6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</a:t>
            </a:r>
            <a:endParaRPr lang="en-US" sz="2400" dirty="0"/>
          </a:p>
          <a:p>
            <a:pPr indent="0" marL="0">
              <a:buNone/>
            </a:pPr>
            <a:r>
              <a:rPr lang="en-US" sz="950" dirty="0">
                <a:solidFill>
                  <a:srgbClr val="6B655B"/>
                </a:solidFill>
              </a:rPr>
              <a:t>fabricated citations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40280"/>
          <a:ext cx="47548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50876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Gate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Criterion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01C"/>
                          </a:solidFill>
                        </a:rPr>
                        <a:t>Result — all pass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502D"/>
                          </a:solidFill>
                        </a:rPr>
                        <a:t>G1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Reproducibility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5/5 checks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502D"/>
                          </a:solidFill>
                        </a:rPr>
                        <a:t>G2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Early retrieval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100% early, 0% false trigger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502D"/>
                          </a:solidFill>
                        </a:rPr>
                        <a:t>G3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Multi-intent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100% (6/6)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502D"/>
                          </a:solidFill>
                        </a:rPr>
                        <a:t>G4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Grounding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100% support, 0 fabricated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502D"/>
                          </a:solidFill>
                        </a:rPr>
                        <a:t>G5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Session refinement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10/10 checks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502D"/>
                          </a:solidFill>
                        </a:rPr>
                        <a:t>G6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Telemetry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01C"/>
                          </a:solidFill>
                        </a:rPr>
                        <a:t>100% (25/25)</a:t>
                      </a:r>
                      <a:endParaRPr lang="en-US" sz="105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5440680" y="2148840"/>
          <a:ext cx="320040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02920" y="44348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55B"/>
                </a:solidFill>
              </a:rPr>
              <a:t>RTX 5060 laptop GPU · 173-chunk corpus · 64 labelled queries · arena runs use identical models with cache bypassed.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5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502D"/>
                </a:solidFill>
              </a:rPr>
              <a:t>LIMITATIONS &amp; ROADMAP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02920" y="502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01C"/>
                </a:solidFill>
              </a:rPr>
              <a:t>What we’d be upfront about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4480560" cy="3108960"/>
          </a:xfrm>
          <a:prstGeom prst="rect">
            <a:avLst/>
          </a:prstGeom>
          <a:solidFill>
            <a:srgbClr val="FFFDF8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89888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0000"/>
                </a:solidFill>
              </a:rPr>
              <a:t>Limits today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Small corpus: 6 documents, 173 chunks, and a labelled set we wrote ourselves.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On that set hybrid search tied dense-only on recall; we kept it for exact numbers and section IDs.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Sub-10 ms retrieval needs a GPU. CPU fallback works but takes ~167 ms.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Controller and synthesizer are cloud APIs, so rate limits and network time are real.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Voice is browser speech recognition or simulated transcripts.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66360" y="1280160"/>
            <a:ext cx="3474720" cy="3108960"/>
          </a:xfrm>
          <a:prstGeom prst="rect">
            <a:avLst/>
          </a:prstGeom>
          <a:solidFill>
            <a:srgbClr val="F3EBDB"/>
          </a:solidFill>
          <a:ln w="9525">
            <a:solidFill>
              <a:srgbClr val="D9D1C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49240" y="1389888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F6B63"/>
                </a:solidFill>
              </a:rPr>
              <a:t>Where it goes next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On-device streaming ASR, no network hop.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Barge-in: cancel in-flight searches when the user cuts in.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Run embeddings and the controller on Galaxy NPU hardware.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</a:rPr>
              <a:t>Knowledge-graph fusion for multi-hop questions.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3840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8502D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 — questions welcome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55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Gnarok Paper">
  <a:themeElements>
    <a:clrScheme name="RAGnarok Paper">
      <a:dk1>
        <a:srgbClr val="22201C"/>
      </a:dk1>
      <a:lt1>
        <a:srgbClr val="FAF6EE"/>
      </a:lt1>
      <a:dk2>
        <a:srgbClr val="6B655B"/>
      </a:dk2>
      <a:lt2>
        <a:srgbClr val="FFFDF8"/>
      </a:lt2>
      <a:accent1>
        <a:srgbClr val="C8502D"/>
      </a:accent1>
      <a:accent2>
        <a:srgbClr val="2F6B63"/>
      </a:accent2>
      <a:accent3>
        <a:srgbClr val="D9A441"/>
      </a:accent3>
      <a:accent4>
        <a:srgbClr val="6B655B"/>
      </a:accent4>
      <a:accent5>
        <a:srgbClr val="8A5A44"/>
      </a:accent5>
      <a:accent6>
        <a:srgbClr val="4A6FA5"/>
      </a:accent6>
      <a:hlink>
        <a:srgbClr val="C8502D"/>
      </a:hlink>
      <a:folHlink>
        <a:srgbClr val="6B655B"/>
      </a:folHlink>
    </a:clrScheme>
    <a:fontScheme name="RAGnarok Paper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Streaming Live RAG - VIT_RAGnarok</dc:title>
  <dc:subject>PptxGenJS Presentation</dc:subject>
  <dc:creator>VIT_RAGnarok</dc:creator>
  <cp:lastModifiedBy>VIT_RAGnarok</cp:lastModifiedBy>
  <cp:revision>1</cp:revision>
  <dcterms:created xsi:type="dcterms:W3CDTF">2026-10-04T12:26:19Z</dcterms:created>
  <dcterms:modified xsi:type="dcterms:W3CDTF">2026-10-04T12:26:19Z</dcterms:modified>
</cp:coreProperties>
</file>