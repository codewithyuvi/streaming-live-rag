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kTAyJz2qaW3JmmgT8aoLhe39F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485229-C258-4AD9-B6A4-0B286398374E}">
  <a:tblStyle styleId="{77485229-C258-4AD9-B6A4-0B28639837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2201C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22201C"/>
                </a:solidFill>
                <a:latin typeface="+mn-lt"/>
              </a:rPr>
              <a:t>Time to first token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Streaming Live RAG</c:v>
                </c:pt>
              </c:strCache>
            </c:strRef>
          </c:tx>
          <c:spPr>
            <a:solidFill>
              <a:srgbClr val="2F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P50</c:v>
                  </c:pt>
                  <c:pt idx="1">
                    <c:v>P95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</c:v>
                </c:pt>
                <c:pt idx="1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sequential</c:v>
                </c:pt>
              </c:strCache>
            </c:strRef>
          </c:tx>
          <c:spPr>
            <a:solidFill>
              <a:srgbClr val="C9BF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P50</c:v>
                  </c:pt>
                  <c:pt idx="1">
                    <c:v>P95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2450</c:v>
                </c:pt>
                <c:pt idx="1">
                  <c:v>3280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55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FAF6E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5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AF6EE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5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0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  <a:defRPr b="1" i="0" sz="2600" u="none" cap="none" strike="noStrike">
                <a:solidFill>
                  <a:srgbClr val="2220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16" name="Google Shape;16;p10"/>
          <p:cNvCxnSpPr/>
          <p:nvPr/>
        </p:nvCxnSpPr>
        <p:spPr>
          <a:xfrm>
            <a:off x="502920" y="4773168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0"/>
          <p:cNvSpPr/>
          <p:nvPr/>
        </p:nvSpPr>
        <p:spPr>
          <a:xfrm>
            <a:off x="502920" y="481888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VIT_RAGnarok  ·  Streaming Live RAG  ·  Theme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548640" y="411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THEME 04  ·  SAMSUNG PRISM GENAI HACKATHON 2026–27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22201C"/>
                </a:solidFill>
                <a:latin typeface="Georgia"/>
                <a:ea typeface="Georgia"/>
                <a:cs typeface="Georgia"/>
                <a:sym typeface="Georgia"/>
              </a:rPr>
              <a:t>Streaming Live RAG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1"/>
          <p:cNvCxnSpPr/>
          <p:nvPr/>
        </p:nvCxnSpPr>
        <p:spPr>
          <a:xfrm rot="-60000">
            <a:off x="566928" y="1627632"/>
            <a:ext cx="3291840" cy="0"/>
          </a:xfrm>
          <a:prstGeom prst="straightConnector1">
            <a:avLst/>
          </a:prstGeom>
          <a:noFill/>
          <a:ln cap="flat" cmpd="sng" w="38100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 txBox="1"/>
          <p:nvPr/>
        </p:nvSpPr>
        <p:spPr>
          <a:xfrm>
            <a:off x="548640" y="1783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Start retrieving while the user is still talking — and keep every answer tied to the corpus.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" name="Google Shape;29;p1"/>
          <p:cNvGraphicFramePr/>
          <p:nvPr/>
        </p:nvGraphicFramePr>
        <p:xfrm>
          <a:off x="54864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{77485229-C258-4AD9-B6A4-0B286398374E}</a:tableStyleId>
              </a:tblPr>
              <a:tblGrid>
                <a:gridCol w="1828800"/>
                <a:gridCol w="6217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Team member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What they built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Yash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Architecture, two-stage controller, async pipeline, packaging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Yuvraj Bansal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Hybrid Qdrant search, GPU embeddings, reranker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Aditya Gupta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Live VS Arena, voice streaming, waveform UI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Jaanya Bagdi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Grounding validator, session memory, gates G1–G6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30" name="Google Shape;30;p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Vellore Institute of Technology  ·  Team VIT_RAGnarok  ·  Release tag PRISM_GENAI_HACKATHON_Y2026  ·  </a:t>
            </a:r>
            <a:r>
              <a:rPr lang="en-US" sz="950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github.com/codewithyuvi/Streaming-Live-Rag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People speak requests, not queries</a:t>
            </a:r>
            <a:endParaRPr sz="2600"/>
          </a:p>
        </p:txBody>
      </p:sp>
      <p:sp>
        <p:nvSpPr>
          <p:cNvPr id="38" name="Google Shape;38;p2"/>
          <p:cNvSpPr/>
          <p:nvPr/>
        </p:nvSpPr>
        <p:spPr>
          <a:xfrm>
            <a:off x="502920" y="1280160"/>
            <a:ext cx="4023360" cy="11887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1280160"/>
            <a:ext cx="64008" cy="1188720"/>
          </a:xfrm>
          <a:prstGeom prst="rect">
            <a:avLst/>
          </a:prstGeom>
          <a:solidFill>
            <a:srgbClr val="C8502D"/>
          </a:solidFill>
          <a:ln cap="flat" cmpd="sng" w="12700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704088" y="137160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sentence, several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“Pune hall capacity for 30, and the cancellation terms, and catering?” A single embedding blurs these together and the later asks get lost.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617720" y="1280160"/>
            <a:ext cx="4023360" cy="11887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617720" y="1280160"/>
            <a:ext cx="64008" cy="1188720"/>
          </a:xfrm>
          <a:prstGeom prst="rect">
            <a:avLst/>
          </a:prstGeom>
          <a:solidFill>
            <a:srgbClr val="2F6B63"/>
          </a:solidFill>
          <a:ln cap="flat" cmpd="sng" w="12700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4818888" y="137160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Dead air after every turn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Classic RAG waits for silence, then searches, then generates. Our naive baseline leaves about 2.5 s before the first token.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2651760"/>
            <a:ext cx="4023360" cy="11887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02920" y="2651760"/>
            <a:ext cx="64008" cy="1188720"/>
          </a:xfrm>
          <a:prstGeom prst="rect">
            <a:avLst/>
          </a:prstGeom>
          <a:solidFill>
            <a:srgbClr val="C8502D"/>
          </a:solidFill>
          <a:ln cap="flat" cmpd="sng" w="12700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704088" y="274320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 details force a restart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“What if we cancel 5 days before?” should sharpen the last answer, not throw away the session and search again.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17720" y="2651760"/>
            <a:ext cx="4023360" cy="11887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617720" y="2651760"/>
            <a:ext cx="64008" cy="1188720"/>
          </a:xfrm>
          <a:prstGeom prst="rect">
            <a:avLst/>
          </a:prstGeom>
          <a:solidFill>
            <a:srgbClr val="2F6B63"/>
          </a:solidFill>
          <a:ln cap="flat" cmpd="sng" w="12700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4818888" y="274320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 models invent 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Quick generation can cite a [Doc_99] that never existed. Without a check, an enterprise answer can’t be trusted.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solidFill>
            <a:srgbClr val="F6E3B0"/>
          </a:solidFill>
          <a:ln cap="flat" cmpd="sng" w="12700">
            <a:solidFill>
              <a:srgbClr val="F6E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Naive: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speech ends → ~2.5 s of silence → first token.     </a:t>
            </a:r>
            <a:r>
              <a:rPr b="1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Ours: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already done when speech ends → first token in ~310 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SOLUTION &amp;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Retrieve while speaking, answer at once</a:t>
            </a:r>
            <a:endParaRPr sz="2600"/>
          </a:p>
        </p:txBody>
      </p:sp>
      <p:sp>
        <p:nvSpPr>
          <p:cNvPr id="60" name="Google Shape;60;p3"/>
          <p:cNvSpPr txBox="1"/>
          <p:nvPr/>
        </p:nvSpPr>
        <p:spPr>
          <a:xfrm>
            <a:off x="502920" y="1234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WHILE THE USER SPEAKS  (t₁)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02920" y="1508760"/>
            <a:ext cx="228600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594360" y="1563624"/>
            <a:ext cx="21031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Groq · wait / retrieve / skip, ~240 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29000" y="1508760"/>
            <a:ext cx="228600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3520440" y="1563624"/>
            <a:ext cx="21031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Decomposer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1–4 sub-queries, run in parallel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55080" y="1508760"/>
            <a:ext cx="228600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850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6446520" y="1563624"/>
            <a:ext cx="21031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Hybrid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Dense + BM25, fused with RRF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2788920" y="189738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6B655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3"/>
          <p:cNvCxnSpPr/>
          <p:nvPr/>
        </p:nvCxnSpPr>
        <p:spPr>
          <a:xfrm>
            <a:off x="5715000" y="189738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6B65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3"/>
          <p:cNvSpPr txBox="1"/>
          <p:nvPr/>
        </p:nvSpPr>
        <p:spPr>
          <a:xfrm>
            <a:off x="502920" y="2514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WHEN SPEECH ENDS  (t_end)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2788920"/>
            <a:ext cx="178308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594360" y="2843784"/>
            <a:ext cx="16002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Merge + rerank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min 2 per sub-query, cap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2286000" y="3177540"/>
            <a:ext cx="338328" cy="0"/>
          </a:xfrm>
          <a:prstGeom prst="straightConnector1">
            <a:avLst/>
          </a:prstGeom>
          <a:noFill/>
          <a:ln cap="flat" cmpd="sng" w="15875">
            <a:solidFill>
              <a:srgbClr val="6B65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3"/>
          <p:cNvSpPr/>
          <p:nvPr/>
        </p:nvSpPr>
        <p:spPr>
          <a:xfrm>
            <a:off x="2624328" y="2788920"/>
            <a:ext cx="178308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715768" y="2843784"/>
            <a:ext cx="16002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Synthesizer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Gemini 2.5 Flash, streamed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4407408" y="3177540"/>
            <a:ext cx="338328" cy="0"/>
          </a:xfrm>
          <a:prstGeom prst="straightConnector1">
            <a:avLst/>
          </a:prstGeom>
          <a:noFill/>
          <a:ln cap="flat" cmpd="sng" w="15875">
            <a:solidFill>
              <a:srgbClr val="6B65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3"/>
          <p:cNvSpPr/>
          <p:nvPr/>
        </p:nvSpPr>
        <p:spPr>
          <a:xfrm>
            <a:off x="4745736" y="2788920"/>
            <a:ext cx="178308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4837176" y="2843784"/>
            <a:ext cx="16002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Grounding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regex vs. retrieved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>
            <a:off x="6528816" y="3177540"/>
            <a:ext cx="338328" cy="0"/>
          </a:xfrm>
          <a:prstGeom prst="straightConnector1">
            <a:avLst/>
          </a:prstGeom>
          <a:noFill/>
          <a:ln cap="flat" cmpd="sng" w="15875">
            <a:solidFill>
              <a:srgbClr val="6B65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3"/>
          <p:cNvSpPr/>
          <p:nvPr/>
        </p:nvSpPr>
        <p:spPr>
          <a:xfrm>
            <a:off x="6867144" y="2788920"/>
            <a:ext cx="1783080" cy="77724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2F6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6958584" y="2843784"/>
            <a:ext cx="16002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Session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citations unioned, v1 → v2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02920" y="384048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Chit-chat  </a:t>
            </a: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Answered directly, zero searches.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3246120" y="384048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“Make that 2 bullets”  </a:t>
            </a: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Skips retrieval, reformats the last answer.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989320" y="384048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Unsupported claim  </a:t>
            </a: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One retry, then it says it can’t verify.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02920" y="36393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Shortcuts that save time and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TOOLS &amp; TECH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A lean stack, no agent framework</a:t>
            </a:r>
            <a:endParaRPr sz="2600"/>
          </a:p>
        </p:txBody>
      </p:sp>
      <p:graphicFrame>
        <p:nvGraphicFramePr>
          <p:cNvPr id="93" name="Google Shape;93;p4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{77485229-C258-4AD9-B6A4-0B286398374E}</a:tableStyleId>
              </a:tblPr>
              <a:tblGrid>
                <a:gridCol w="1554475"/>
                <a:gridCol w="36576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Layer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Choice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Transport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FastAPI + asyncio, WebSockets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Controller LLM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Groq · LLaMA 3.3 70B Versatile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Synthesizer LLM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Google Gemini 2.5 Flash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Vector store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Qdrant hybrid, embedded fallback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Dense embeddings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bge-small-en-v1.5, FastEmbed ONNX (CUDA)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Sparse search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Qdrant BM25 + RRF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Reranker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ms-marco-MiniLM-L-6-v2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Grounding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Regex validator, no LLM calls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4"/>
          <p:cNvSpPr/>
          <p:nvPr/>
        </p:nvSpPr>
        <p:spPr>
          <a:xfrm>
            <a:off x="5943600" y="1280160"/>
            <a:ext cx="2697480" cy="2715768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6080760" y="1371600"/>
            <a:ext cx="2423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no LangChain / LangGraph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C8502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ADR-1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Nothing in them handles retrieving on a half-spoken sentence.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Generic graph layers add tens of ms we can’t spend.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Plain asyncio lets us cancel and prune speculative branches.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Dev tools we used (Antigravity/Gemini, Copilot, ChatGPT, Claude) are listed in our AI Disclosure. Everything above is what runs at inference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INNOVATION HIGHLIGHTS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What we did differently</a:t>
            </a:r>
            <a:endParaRPr sz="2600"/>
          </a:p>
        </p:txBody>
      </p:sp>
      <p:sp>
        <p:nvSpPr>
          <p:cNvPr id="105" name="Google Shape;105;p5"/>
          <p:cNvSpPr txBox="1"/>
          <p:nvPr/>
        </p:nvSpPr>
        <p:spPr>
          <a:xfrm>
            <a:off x="502920" y="12801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1005840" y="1280160"/>
            <a:ext cx="7589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Speculative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Search fires on a stable prefix mid-sentence; a stop-word guard stops it jumping on half-words.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1005840" y="189280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9D1C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 txBox="1"/>
          <p:nvPr/>
        </p:nvSpPr>
        <p:spPr>
          <a:xfrm>
            <a:off x="502920" y="19659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F6B63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1005840" y="1965960"/>
            <a:ext cx="7589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Two-stage 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A fast LLM decides when to fire. Heuristics alone false-triggered on 21–29% of chit-chat; ours: 0%.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1005840" y="257860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9D1C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 txBox="1"/>
          <p:nvPr/>
        </p:nvSpPr>
        <p:spPr>
          <a:xfrm>
            <a:off x="502920" y="2651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005840" y="2651760"/>
            <a:ext cx="7589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Refine, don’t restart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NEW_TOPIC, LATE_DETAIL or PRESENTATION_ONLY. Late details add delta citations and bump the version.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>
            <a:off x="1005840" y="326440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9D1C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5"/>
          <p:cNvSpPr txBox="1"/>
          <p:nvPr/>
        </p:nvSpPr>
        <p:spPr>
          <a:xfrm>
            <a:off x="502920" y="33375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F6B6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1005840" y="3337560"/>
            <a:ext cx="7589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Grounding without an 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A short regex check matches every [Doc §Section] to retrieved chunk IDs. Fabricated IDs never get through.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1005840" y="395020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9D1C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 txBox="1"/>
          <p:nvPr/>
        </p:nvSpPr>
        <p:spPr>
          <a:xfrm>
            <a:off x="502920" y="40233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005840" y="4023360"/>
            <a:ext cx="7589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Honest thoughts + live arena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The 4-step thought stream shows real timestamps, no artificial delays. The VS Arena runs both pipelines side by side.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RESULTS &amp; BENCHMARKS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Measured, not claimed</a:t>
            </a:r>
            <a:endParaRPr sz="2600"/>
          </a:p>
        </p:txBody>
      </p:sp>
      <p:sp>
        <p:nvSpPr>
          <p:cNvPr id="127" name="Google Shape;127;p6"/>
          <p:cNvSpPr txBox="1"/>
          <p:nvPr/>
        </p:nvSpPr>
        <p:spPr>
          <a:xfrm>
            <a:off x="502920" y="118872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7.9×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faster P50 first token (310 vs 2,450 ms)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2560320" y="118872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F6B63"/>
                </a:solidFill>
                <a:latin typeface="Georgia"/>
                <a:ea typeface="Georgia"/>
                <a:cs typeface="Georgia"/>
                <a:sym typeface="Georgia"/>
              </a:rPr>
              <a:t>9.8 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hybrid retrieval on GPU (166.7 ms on CPU)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617720" y="118872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$0.0004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median cost per turn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675120" y="118872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F6B63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fabricated citations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50292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{77485229-C258-4AD9-B6A4-0B286398374E}</a:tableStyleId>
              </a:tblPr>
              <a:tblGrid>
                <a:gridCol w="502925"/>
                <a:gridCol w="1508750"/>
                <a:gridCol w="2743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Gate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Criterion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2201C"/>
                          </a:solidFill>
                        </a:rPr>
                        <a:t>Result — all pass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7D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G1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Reproducibility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5/5 checks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G2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Early retrieval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100% early, 0% false trigger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G3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Multi-intent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100% (6/6)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G4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Grounding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100% support, 0 fabricated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G5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Session refinement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10/10 checks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02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8502D"/>
                          </a:solidFill>
                        </a:rPr>
                        <a:t>G6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Telemetry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01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2201C"/>
                          </a:solidFill>
                        </a:rPr>
                        <a:t>100% (25/25)</a:t>
                      </a:r>
                      <a:endParaRPr sz="105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6"/>
          <p:cNvGraphicFramePr/>
          <p:nvPr/>
        </p:nvGraphicFramePr>
        <p:xfrm>
          <a:off x="5440680" y="2148840"/>
          <a:ext cx="3200400" cy="2240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3" name="Google Shape;133;p6"/>
          <p:cNvSpPr txBox="1"/>
          <p:nvPr/>
        </p:nvSpPr>
        <p:spPr>
          <a:xfrm>
            <a:off x="502920" y="443484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5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RTX 5060 laptop GPU · 173-chunk corpus · 64 labelled queries · arena runs use identical models with cache bypassed.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000"/>
              <a:buFont typeface="Calibri"/>
              <a:buNone/>
            </a:pPr>
            <a:r>
              <a:rPr b="1" i="0" lang="en-US" spc="300" sz="1000" u="none" cap="none" strike="noStrike">
                <a:solidFill>
                  <a:srgbClr val="C8502D"/>
                </a:solidFill>
                <a:latin typeface="Calibri"/>
                <a:ea typeface="Calibri"/>
                <a:cs typeface="Calibri"/>
                <a:sym typeface="Calibri"/>
              </a:rPr>
              <a:t>LIMITATIONS &amp;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01C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2201C"/>
                </a:solidFill>
              </a:rPr>
              <a:t>What we’d be upfront about</a:t>
            </a:r>
            <a:endParaRPr sz="2600"/>
          </a:p>
        </p:txBody>
      </p:sp>
      <p:sp>
        <p:nvSpPr>
          <p:cNvPr id="142" name="Google Shape;142;p7"/>
          <p:cNvSpPr/>
          <p:nvPr/>
        </p:nvSpPr>
        <p:spPr>
          <a:xfrm>
            <a:off x="502920" y="1280160"/>
            <a:ext cx="4480560" cy="310896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685800" y="1389888"/>
            <a:ext cx="41605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Limits today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corpus: 6 documents, 173 chunks, and a labelled set we wrote ourselves.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that set hybrid search tied dense-only on recall; we kept it for exact numbers and section IDs.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Sub-10 ms retrieval needs a GPU. CPU fallback works but takes ~167 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 and synthesizer are cloud APIs, so rate limits and network time are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is browser speech recognition or simulated transcripts.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166360" y="1280160"/>
            <a:ext cx="3474720" cy="3108960"/>
          </a:xfrm>
          <a:prstGeom prst="rect">
            <a:avLst/>
          </a:prstGeom>
          <a:solidFill>
            <a:srgbClr val="F3EBDB"/>
          </a:solidFill>
          <a:ln cap="flat" cmpd="sng" w="9525">
            <a:solidFill>
              <a:srgbClr val="D9D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5349240" y="1389888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6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6B63"/>
                </a:solidFill>
                <a:latin typeface="Calibri"/>
                <a:ea typeface="Calibri"/>
                <a:cs typeface="Calibri"/>
                <a:sym typeface="Calibri"/>
              </a:rPr>
              <a:t>Where it goes next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On-device streaming ASR, no network hop.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Barge-in: cancel in-flight searches when the user cuts 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embeddings and the controller on Galaxy NPU hardware.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Knowledge-graph fusion for multi-hop questions.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349240" y="38404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2D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C8502D"/>
                </a:solidFill>
                <a:latin typeface="Georgia"/>
                <a:ea typeface="Georgia"/>
                <a:cs typeface="Georgia"/>
                <a:sym typeface="Georgia"/>
              </a:rPr>
              <a:t>Thank you — questions welcome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>
            <p:ph idx="4294967295" type="sldNum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655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6B65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AGnarok Paper">
  <a:themeElements>
    <a:clrScheme name="RAGnarok Paper">
      <a:dk1>
        <a:srgbClr val="22201C"/>
      </a:dk1>
      <a:lt1>
        <a:srgbClr val="FAF6EE"/>
      </a:lt1>
      <a:dk2>
        <a:srgbClr val="6B655B"/>
      </a:dk2>
      <a:lt2>
        <a:srgbClr val="FFFDF8"/>
      </a:lt2>
      <a:accent1>
        <a:srgbClr val="C8502D"/>
      </a:accent1>
      <a:accent2>
        <a:srgbClr val="2F6B63"/>
      </a:accent2>
      <a:accent3>
        <a:srgbClr val="D9A441"/>
      </a:accent3>
      <a:accent4>
        <a:srgbClr val="6B655B"/>
      </a:accent4>
      <a:accent5>
        <a:srgbClr val="8A5A44"/>
      </a:accent5>
      <a:accent6>
        <a:srgbClr val="4A6FA5"/>
      </a:accent6>
      <a:hlink>
        <a:srgbClr val="C8502D"/>
      </a:hlink>
      <a:folHlink>
        <a:srgbClr val="6B65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AGnarok Paper">
  <a:themeElements>
    <a:clrScheme name="RAGnarok Paper">
      <a:dk1>
        <a:srgbClr val="22201C"/>
      </a:dk1>
      <a:lt1>
        <a:srgbClr val="FAF6EE"/>
      </a:lt1>
      <a:dk2>
        <a:srgbClr val="6B655B"/>
      </a:dk2>
      <a:lt2>
        <a:srgbClr val="FFFDF8"/>
      </a:lt2>
      <a:accent1>
        <a:srgbClr val="C8502D"/>
      </a:accent1>
      <a:accent2>
        <a:srgbClr val="2F6B63"/>
      </a:accent2>
      <a:accent3>
        <a:srgbClr val="D9A441"/>
      </a:accent3>
      <a:accent4>
        <a:srgbClr val="6B655B"/>
      </a:accent4>
      <a:accent5>
        <a:srgbClr val="8A5A44"/>
      </a:accent5>
      <a:accent6>
        <a:srgbClr val="4A6FA5"/>
      </a:accent6>
      <a:hlink>
        <a:srgbClr val="C8502D"/>
      </a:hlink>
      <a:folHlink>
        <a:srgbClr val="6B65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2026-10-04T12:26:19Z</dcterms:created>
  <dc:creator>VIT_RAGnarok</dc:creator>
</cp:coreProperties>
</file>